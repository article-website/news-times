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Perkenalan singkat. Sebut ini laporan progres, bukan demo produk jadi — supaya harapan pendengar pas sejak awal.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slide paling penting. Kalau presentasi dipotong, empat kalimat ini yang harus tersampaikan. Jangan menutupi poin kedua — justru itu yang menunjukkan kita tahu posisi sendiri.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baris kedua — bug tanggal itu yang paling meyakinkan, karena mengurutkan berita dari yang terbaru adalah fungsi paling dasar sebuah situs berita.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ini biasanya memancing pertanyaan. Jawabannya: JavaScript kalau diberi 31 Februari diam-diam menggesernya jadi 3 Maret, jadi hasil terjemahan dicek balik dan artikel dengan tanggal ngawur dilewati.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Kalau ditanya 'kenapa tidak pakai API?', jawabannya: API yang dihindari monolith itu backend sebagai proyek terpisah, bukan alamat URL. Yang benar-benar wajib URL cuma sitemap dan RSS.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Kalau ditanya soal index: index itu seperti daftar isi buku. Ada tiga, masing-masing mengikuti pola pencarian yang paling sering dipakai halaman.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keputusan yang paling berdampak ke tim. Kalimat andalannya: halaman tidak perlu tahu datanya datang dari 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Kaitkan dengan risiko yang masih terbuka sekarang: tautan halaman redaksi sudah ada di footer semua halaman, tapi login belum dipasang. Itu ada di slide risiko.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 baris kuning sengaja ditampilkan. Kalau ditanya soal 2 error lint: keduanya ada di berkas yang bukan bagian lapisan data, dan sudah dikomunikasikan ke pemiliknya.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Jangan mempercantik slide ini. Justru kejujurannya yang membuat slide sebelumnya dipercaya.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Sampaikan risiko sebagai permintaan keputusan, bukan keluhan. Poin pertama yang paling mahal kalau baru ketahuan di minggu terakhir.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Urutannya bukan asal. Nomor 3 harus sebelum nomor 4, karena tautan admin sudah publik.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Kalau ditanya kenapa dua peran kosong: anggota organisasi ada 5, tapi dua orang belum menentukan bagian. Ini yang mau kami putuskan minggu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Tutup dengan mengundang pertanyaan, dan arahkan ke STATUS.md untuk siapa pun yang ingin memeriksa sendiri.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48840"/>
            <a:ext cx="1097280" cy="6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LAPORAN PROGRES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5400" b="1">
                <a:solidFill>
                  <a:srgbClr val="FFFFFF"/>
                </a:solidFill>
                <a:latin typeface="Segoe UI"/>
              </a:defRPr>
            </a:pPr>
            <a:r>
              <a:t>NewsTimes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CBD5E1"/>
                </a:solidFill>
                <a:latin typeface="Segoe UI"/>
              </a:defRPr>
            </a:pPr>
            <a:r>
              <a:t>Portal berita dengan ruang redaksi sendiri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B7280"/>
                </a:solidFill>
                <a:latin typeface="Segoe UI"/>
              </a:defRPr>
            </a:pPr>
            <a:r>
              <a:t>Tim 5 orang  ·  Next.js 16  ·  PostgreSQL di Neon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6B7280"/>
                </a:solidFill>
                <a:latin typeface="Segoe UI"/>
              </a:defRPr>
            </a:pPr>
            <a:r>
              <a:t>11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RINGKASAN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1F2937"/>
                </a:solidFill>
                <a:latin typeface="Segoe UI"/>
              </a:defRPr>
            </a:pPr>
            <a:r>
              <a:t>Kalau cuma sempat dengar satu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956815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874519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F2937"/>
                </a:solidFill>
                <a:latin typeface="Segoe UI"/>
              </a:defRPr>
            </a:pPr>
            <a:r>
              <a:t>Fondasi datanya sudah selesai dan terbukti jalan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157983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B7280"/>
                </a:solidFill>
                <a:latin typeface="Segoe UI"/>
              </a:defRPr>
            </a:pPr>
            <a:r>
              <a:t>5 tabel, 4 kumpulan fungsi akses data, 163 pengecekan otomatis lulus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916935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834639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F2937"/>
                </a:solidFill>
                <a:latin typeface="Segoe UI"/>
              </a:defRPr>
            </a:pPr>
            <a:r>
              <a:t>Tapi belum ada satu halaman pun yang memakainya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118103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B7280"/>
                </a:solidFill>
                <a:latin typeface="Segoe UI"/>
              </a:defRPr>
            </a:pPr>
            <a:r>
              <a:t>Semua halaman masih membaca 5 artikel yang ditulis tangan di dalam kode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877055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794759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F2937"/>
                </a:solidFill>
                <a:latin typeface="Segoe UI"/>
              </a:defRPr>
            </a:pPr>
            <a:r>
              <a:t>Redaksi belum bisa menerbitkan artikel sendiri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078223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B7280"/>
                </a:solidFill>
                <a:latin typeface="Segoe UI"/>
              </a:defRPr>
            </a:pPr>
            <a:r>
              <a:t>Halaman admin sudah ada, tapi datanya masih tersimpan di browser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837175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754879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F2937"/>
                </a:solidFill>
                <a:latin typeface="Segoe UI"/>
              </a:defRPr>
            </a:pPr>
            <a:r>
              <a:t>Yang paling mendesak: dua peran tim masih kosong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5038343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B7280"/>
                </a:solidFill>
                <a:latin typeface="Segoe UI"/>
              </a:defRPr>
            </a:pPr>
            <a:r>
              <a:t>Tanpa Orang 5, branch utama tidak terkunci dan tidak ada pengecekan otomatis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MASALAH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1F2937"/>
                </a:solidFill>
                <a:latin typeface="Segoe UI"/>
              </a:defRPr>
            </a:pPr>
            <a:r>
              <a:t>Kondisi awal: tampilannya jadi, isinya mati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6B7280"/>
                </a:solidFill>
                <a:latin typeface="Segoe UI"/>
              </a:defRPr>
            </a:pPr>
            <a:r>
              <a:t>Lima artikel ditulis tangan langsung di dalam kode, di src/data/articles.ts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24028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Masalah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Dampaknya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Menambah artikel harus mengubah kode lalu deploy ulang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Redaksi tidak bisa menulis sendiri — semua lewat programmer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Tanggal disimpan sebagai teks: "28 Juni 2025"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Artikel tidak bisa diurutkan dari yang terbaru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Enam menu kategori mengarah ke href="#"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Pengunjung tidak bisa menelusuri per topik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Tidak ada pencarian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Artikel lama hilang begitu tergeser artikel baru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Form newsletter hanya memunculkan alert()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Tidak ada satu pun email yang tersimpan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TEMUAN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Komputer membaca tanggal itu</a:t>
            </a:r>
            <a:br/>
            <a:r>
              <a:t>sebagai tulisan, bukan tanggal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2200" b="0">
                <a:solidFill>
                  <a:srgbClr val="CBD5E1"/>
                </a:solidFill>
                <a:latin typeface="Segoe UI"/>
              </a:defRPr>
            </a:pPr>
            <a:r>
              <a:t>"28 Juni"  dianggap LEBIH KECIL dari  "3 Mei"</a:t>
            </a:r>
          </a:p>
          <a:p>
            <a:pPr algn="l">
              <a:spcAft>
                <a:spcPts val="1000"/>
              </a:spcAft>
              <a:defRPr sz="2200" b="0">
                <a:solidFill>
                  <a:srgbClr val="CBD5E1"/>
                </a:solidFill>
                <a:latin typeface="Segoe UI"/>
              </a:defRPr>
            </a:pPr>
            <a:r>
              <a:t>karena diurutkan huruf per huruf, dan '2' datang sebelum '3'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6B7280"/>
                </a:solidFill>
                <a:latin typeface="Segoe UI"/>
              </a:defRPr>
            </a:pPr>
            <a:r>
              <a:t>Artinya artikel tidak bisa diurutkan dari yang terbaru sama sekali.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B7280"/>
                </a:solidFill>
                <a:latin typeface="Segoe UI"/>
              </a:defRPr>
            </a:pPr>
            <a:r>
              <a:t>Sekarang disimpan sebagai tanggal sungguhan, dan penerjemahnya menolak tanggal yang tidak ada seperti 31 Februari.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ARSITEKTUR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1F2937"/>
                </a:solidFill>
                <a:latin typeface="Segoe UI"/>
              </a:defRPr>
            </a:pPr>
            <a:r>
              <a:t>Satu aplikasi, bukan dua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2563EB"/>
                </a:solidFill>
                <a:latin typeface="Segoe UI"/>
              </a:defRPr>
            </a:pPr>
            <a:r>
              <a:t>Halaman  →  fungsi akses data  → 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Segoe UI"/>
              </a:defRPr>
            </a:pPr>
            <a:r>
              <a:t>Tidak ada backend terpisah. Halaman memanggil fungsi biasa di dalam server yang sama — tidak lewat jaringan, tidak lewat alamat URL.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370332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65836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Keputusan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Alasannya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Monolith, bukan backend terpisah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Tim 5 orang, repo kecil. Dua repo berarti dua deploy dan dua tempat rusak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API hanya untuk yang wajib berupa URL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sitemap.xml dan rss.xml dibaca mesin luar. Form cukup Server Action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Halaman tidak boleh menyentuh database langsung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Semua lewat 4 kumpulan fungsi, supaya perubahan database tidak merembet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MODEL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1F2937"/>
                </a:solidFill>
                <a:latin typeface="Segoe UI"/>
              </a:defRPr>
            </a:pPr>
            <a:r>
              <a:t>Lima tabel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2024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651760"/>
                <a:gridCol w="530352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Tabel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Isinya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Yang perlu diingat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Article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Artikel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publishedAt boleh kosong = draft. Punya 3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Punya kolom urutan, supaya navbar tidak hardcode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Author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Penulis artikel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Terpisah dari akun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User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Akun redaksi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Hanya menyimpan hash password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NewsletterSubscriber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Pendaftar newsletter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Berhenti dicatat, data tidak dihapus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663440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6B7280"/>
                </a:solidFill>
                <a:latin typeface="Segoe UI"/>
              </a:defRPr>
            </a:pPr>
            <a:r>
              <a:t>Satu artikel punya tepat satu kategori dan satu penulis. Kategori dan penulis tidak bisa dihapus selama masih dipakai artikel.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KEPUTUSAN KUNCI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1F2937"/>
                </a:solidFill>
                <a:latin typeface="Segoe UI"/>
              </a:defRPr>
            </a:pPr>
            <a:r>
              <a:t>Dua versi, supaya tim tidak saling menunggu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Segoe UI"/>
              </a:defRPr>
            </a:pPr>
            <a:r>
              <a:t>Kalau halaman langsung menyambung ke database, tidak ada satu pun anggota tim yang bisa mulai bekerja sebelum databasenya jadi.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7432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02336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Versi data contoh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Versi database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Butuh database?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Tidak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Dipakai kapan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Selama tim membangun tampilan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Setelah database siap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Bentuk hasilnya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Sama persis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Sama persis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Cara menukar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Satu baris di berkas setelan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Satu baris di berkas setelan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02920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6B7280"/>
                </a:solidFill>
                <a:latin typeface="Segoe UI"/>
              </a:defRPr>
            </a:pPr>
            <a:r>
              <a:t>Sudah dibuktikan: 20 pemeriksaan membandingkan hasil kedua versi kolom per kolom — semuanya sama, nol perbedaan.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KEPUTUSAN KUNCI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1F2937"/>
                </a:solidFill>
                <a:latin typeface="Segoe UI"/>
              </a:defRPr>
            </a:pPr>
            <a:r>
              <a:t>Draft tidak boleh bocor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1F2937"/>
                </a:solidFill>
                <a:latin typeface="Segoe UI"/>
              </a:defRPr>
            </a:pPr>
            <a:r>
              <a:t>Artikel terlihat publik hanya kalau DUA syarat terpenuhi: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596896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514600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Segoe UI"/>
              </a:defRPr>
            </a:pPr>
            <a:r>
              <a:t>Statusnya sudah terbit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145536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063240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Segoe UI"/>
              </a:defRPr>
            </a:pPr>
            <a:r>
              <a:t>Tanggal terbitnya sudah lewat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1F2937"/>
                </a:solidFill>
                <a:latin typeface="Segoe UI"/>
              </a:defRPr>
            </a:pPr>
            <a:r>
              <a:t>Kenapa syarat kedua penting?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1F2937"/>
                </a:solidFill>
                <a:latin typeface="Segoe UI"/>
              </a:defRPr>
            </a:pPr>
            <a:r>
              <a:t>Tanpa itu, artikel yang dijadwalkan tayang besok sudah bisa dibaca hari ini oleh siapa pun yang menebak alamatnya. Bocor sebelum waktunya.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6B7280"/>
                </a:solidFill>
                <a:latin typeface="Segoe UI"/>
              </a:defRPr>
            </a:pPr>
            <a:r>
              <a:t>Aturan ini ditegakkan di lapisan data, bukan di tiap halaman — supaya tidak ada halaman yang lupa memeriksanya.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BUKTI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1F2937"/>
                </a:solidFill>
                <a:latin typeface="Segoe UI"/>
              </a:defRPr>
            </a:pPr>
            <a:r>
              <a:t>163 pengecekan otomatis, semuanya lulus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B7280"/>
                </a:solidFill>
                <a:latin typeface="Segoe UI"/>
              </a:defRPr>
            </a:pPr>
            <a:r>
              <a:t>Dijalankan ulang 11 September 2026, bukan hasil lama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1945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466344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Perintah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Hasil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npm run typecheck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npm run build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PASS — 6 halaman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npm run verify:repo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PASS — 37 pengecekan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npm run verify:compare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PASS — 20 sama, 0 beda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npm run verify:all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PASS — 106 pengecekan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npm run lint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45309"/>
                          </a:solidFill>
                          <a:latin typeface="Segoe UI"/>
                        </a:defRPr>
                      </a:pPr>
                      <a:r>
                        <a:t>2 error, 5 warning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Uji database manual &amp; pemeriksaan browser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45309"/>
                          </a:solidFill>
                          <a:latin typeface="Segoe UI"/>
                        </a:defRPr>
                      </a:pPr>
                      <a:r>
                        <a:t>NOT_RUN sejak PR #3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39496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6B7280"/>
                </a:solidFill>
                <a:latin typeface="Segoe UI"/>
              </a:defRPr>
            </a:pPr>
            <a:r>
              <a:t>Status yang boleh dipakai cuma PASS, FAIL, dan NOT_RUN. Yang belum dijalankan ditulis NOT_RUN, tidak dianggap lulus.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1F2937"/>
                </a:solidFill>
                <a:latin typeface="Segoe UI"/>
              </a:defRPr>
            </a:pPr>
            <a:r>
              <a:t>Kondisi sekarang, apa adanya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2024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737360"/>
                <a:gridCol w="54864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Bagian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Catatan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Lapisan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Selesai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5 tabel, 4 kumpulan fungsi, teruji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Tampilan publik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45309"/>
                          </a:solidFill>
                          <a:latin typeface="Segoe UI"/>
                        </a:defRPr>
                      </a:pPr>
                      <a:r>
                        <a:t>Sebagian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Halaman ada, datanya masih dari dalam kode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Halaman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45309"/>
                          </a:solidFill>
                          <a:latin typeface="Segoe UI"/>
                        </a:defRPr>
                      </a:pPr>
                      <a:r>
                        <a:t>Sebagian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Ada, tapi menyimpan ke browser, bukan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Login &amp; kunci admin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Belum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Tabel akun siap, sistemnya belum dibuat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Validasi &amp; SEO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Belum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Belum ada sitemap, RSS, maupun validasi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Deploy &amp; pengecekan otomatis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Belum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Branch utama belum dikunci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Dokumentasi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Selesai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README, PRD, panduan, laporan,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PERLU DIPUTUSKAN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1F2937"/>
                </a:solidFill>
                <a:latin typeface="Segoe UI"/>
              </a:defRPr>
            </a:pPr>
            <a:r>
              <a:t>Risiko dan keputusan yang menggantung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911096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828800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F2937"/>
                </a:solidFill>
                <a:latin typeface="Segoe UI"/>
              </a:defRPr>
            </a:pPr>
            <a:r>
              <a:t>Status komersial proyek belum jelas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112264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B7280"/>
                </a:solidFill>
                <a:latin typeface="Segoe UI"/>
              </a:defRPr>
            </a:pPr>
            <a:r>
              <a:t>Vercel paket gratis melarang pemakaian komersial. Kalau ternyata untuk perusahaan, anggaran hosting harus dibahas sekarang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962656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880360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F2937"/>
                </a:solidFill>
                <a:latin typeface="Segoe UI"/>
              </a:defRPr>
            </a:pPr>
            <a:r>
              <a:t>Dua peran tim masih kosong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163824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B7280"/>
                </a:solidFill>
                <a:latin typeface="Segoe UI"/>
              </a:defRPr>
            </a:pPr>
            <a:r>
              <a:t>Tanpa Orang 5, branch utama tidak terkunci dan tidak ada pengecekan otomatis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014216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931920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F2937"/>
                </a:solidFill>
                <a:latin typeface="Segoe UI"/>
              </a:defRPr>
            </a:pPr>
            <a:r>
              <a:t>Tautan halaman redaksi sudah publik di footer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215384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B7280"/>
                </a:solidFill>
                <a:latin typeface="Segoe UI"/>
              </a:defRPr>
            </a:pPr>
            <a:r>
              <a:t>Login harus jalan SEBELUM halaman admin menyentuh database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065776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983480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F2937"/>
                </a:solidFill>
                <a:latin typeface="Segoe UI"/>
              </a:defRPr>
            </a:pPr>
            <a:r>
              <a:t>Halaman admin belum menyimpan ke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5266944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B7280"/>
                </a:solidFill>
                <a:latin typeface="Segoe UI"/>
              </a:defRPr>
            </a:pPr>
            <a:r>
              <a:t>Artikel yang ditambah cuma terlihat di perangkat yang menambahkannya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RENCANA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1F2937"/>
                </a:solidFill>
                <a:latin typeface="Segoe UI"/>
              </a:defRPr>
            </a:pPr>
            <a:r>
              <a:t>Langkah berikutnya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2024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766560"/>
                <a:gridCol w="26517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Urutan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Yang dikerjakan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Siapa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Kunci branch utama dan pasang pengecekan otomatis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Orang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Bereskan 2 error lint supaya pengecekan bisa hijau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Orang 2 &amp; 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Pasang login dan kunci halaman redaksi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Orang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Sambungkan halaman admin ke database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Orang 3 + Orang 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Pindahkan halaman publik ke fungsi akses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Orang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Halaman kategori, pencarian, dan tombol muat lebih banyak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Orang 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Validasi, newsletter, sitemap, dan RSS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Orang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SIAPA PEGANG APA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1F2937"/>
                </a:solidFill>
                <a:latin typeface="Segoe UI"/>
              </a:defRPr>
            </a:pPr>
            <a:r>
              <a:t>Pembagian tim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2024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206240"/>
                <a:gridCol w="31089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Peran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Wilayah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Orang 1 —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prisma/, src/server/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Selesai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Orang 2 — Tampilan Publik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src/components/, halaman publik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45309"/>
                          </a:solidFill>
                          <a:latin typeface="Segoe UI"/>
                        </a:defRPr>
                      </a:pPr>
                      <a:r>
                        <a:t>Berjalan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Orang 3 — Admin &amp;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src/app/admin/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45309"/>
                          </a:solidFill>
                          <a:latin typeface="Segoe UI"/>
                        </a:defRPr>
                      </a:pPr>
                      <a:r>
                        <a:t>Berjalan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Orang 4 — Validasi &amp; SEO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validation/, services/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Belum ada orangnya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Orang 5 — Deploy &amp;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workflows/, tests/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Belum ada orangnya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434840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6B7280"/>
                </a:solidFill>
                <a:latin typeface="Segoe UI"/>
              </a:defRPr>
            </a:pPr>
            <a:r>
              <a:t>Aturan yang menjaga lima orang tidak bertabrakan di repo sekecil ini: satu orang satu wilayah, dan mengubah wilayah orang lain harus lewat review pemiliknya.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PENUTUP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Fondasinya sudah berdiri dan terbukti.</a:t>
            </a:r>
            <a:br/>
            <a:r>
              <a:t>Yang tersisa: menyambungkannya.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241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CBD5E1"/>
                </a:solidFill>
                <a:latin typeface="Segoe UI"/>
              </a:defRPr>
            </a:pPr>
            <a:r>
              <a:t>Dokumentasi lengkap ada di repo: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CBD5E1"/>
                </a:solidFill>
                <a:latin typeface="Segoe UI"/>
              </a:defRPr>
            </a:pPr>
            <a:r>
              <a:t>STATUS.md · docs/PRD.md · docs/DATABASE.md · docs/LAPORAN-DATABASE.md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CBD5E1"/>
                </a:solidFill>
                <a:latin typeface="Segoe UI"/>
              </a:defRPr>
            </a:pPr>
            <a:r>
              <a:t>github.com/article-website/news-times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